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161d36cce744fc" /><Relationship Type="http://schemas.openxmlformats.org/officeDocument/2006/relationships/extended-properties" Target="/docProps/app.xml" Id="Rc7ab472b12d04003" /><Relationship Type="http://schemas.openxmlformats.org/officeDocument/2006/relationships/officeDocument" Target="/ppt/presentation.xml" Id="Re2cc8e1943224f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2fe7e028914330"/>
  </p:sldMasterIdLst>
  <p:notesMasterIdLst>
    <p:notesMasterId xmlns:r="http://schemas.openxmlformats.org/officeDocument/2006/relationships" r:id="Rdc34e6a7b5c94229"/>
  </p:notesMasterIdLst>
  <p:sldIdLst>
    <p:sldId xmlns:r="http://schemas.openxmlformats.org/officeDocument/2006/relationships" id="256" r:id="R6376da547b20456b"/>
    <p:sldId xmlns:r="http://schemas.openxmlformats.org/officeDocument/2006/relationships" id="257" r:id="Rc22e99bd284c4b05"/>
    <p:sldId xmlns:r="http://schemas.openxmlformats.org/officeDocument/2006/relationships" id="258" r:id="Rd23c24f0f35e413d"/>
    <p:sldId xmlns:r="http://schemas.openxmlformats.org/officeDocument/2006/relationships" id="259" r:id="R2ec0d586257142e3"/>
    <p:sldId xmlns:r="http://schemas.openxmlformats.org/officeDocument/2006/relationships" id="260" r:id="Re8509b5e718a40bc"/>
    <p:sldId xmlns:r="http://schemas.openxmlformats.org/officeDocument/2006/relationships" id="261" r:id="R34cabbf4d8344b48"/>
    <p:sldId xmlns:r="http://schemas.openxmlformats.org/officeDocument/2006/relationships" id="262" r:id="Re1e2aa88754e4998"/>
    <p:sldId xmlns:r="http://schemas.openxmlformats.org/officeDocument/2006/relationships" id="263" r:id="R25476e30169a402d"/>
    <p:sldId xmlns:r="http://schemas.openxmlformats.org/officeDocument/2006/relationships" id="264" r:id="R93b69fdf60f14e94"/>
    <p:sldId xmlns:r="http://schemas.openxmlformats.org/officeDocument/2006/relationships" id="265" r:id="Rc093a8f384944e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17ea9baa47404c" /><Relationship Type="http://schemas.openxmlformats.org/officeDocument/2006/relationships/slideMaster" Target="/ppt/slideMasters/slideMaster1.xml" Id="R902fe7e028914330" /><Relationship Type="http://schemas.openxmlformats.org/officeDocument/2006/relationships/notesMaster" Target="/ppt/notesMasters/notesMaster1.xml" Id="Rdc34e6a7b5c94229" /><Relationship Type="http://schemas.openxmlformats.org/officeDocument/2006/relationships/presProps" Target="/ppt/presProps.xml" Id="R1023327afa214860" /><Relationship Type="http://schemas.openxmlformats.org/officeDocument/2006/relationships/tableStyles" Target="/ppt/tableStyles.xml" Id="R5f380286bb19428b" /><Relationship Type="http://schemas.openxmlformats.org/officeDocument/2006/relationships/slide" Target="/ppt/slides/slide1.xml" Id="R6376da547b20456b" /><Relationship Type="http://schemas.openxmlformats.org/officeDocument/2006/relationships/slide" Target="/ppt/slides/slide2.xml" Id="Rc22e99bd284c4b05" /><Relationship Type="http://schemas.openxmlformats.org/officeDocument/2006/relationships/slide" Target="/ppt/slides/slide3.xml" Id="Rd23c24f0f35e413d" /><Relationship Type="http://schemas.openxmlformats.org/officeDocument/2006/relationships/slide" Target="/ppt/slides/slide4.xml" Id="R2ec0d586257142e3" /><Relationship Type="http://schemas.openxmlformats.org/officeDocument/2006/relationships/slide" Target="/ppt/slides/slide5.xml" Id="Re8509b5e718a40bc" /><Relationship Type="http://schemas.openxmlformats.org/officeDocument/2006/relationships/slide" Target="/ppt/slides/slide6.xml" Id="R34cabbf4d8344b48" /><Relationship Type="http://schemas.openxmlformats.org/officeDocument/2006/relationships/slide" Target="/ppt/slides/slide7.xml" Id="Re1e2aa88754e4998" /><Relationship Type="http://schemas.openxmlformats.org/officeDocument/2006/relationships/slide" Target="/ppt/slides/slide8.xml" Id="R25476e30169a402d" /><Relationship Type="http://schemas.openxmlformats.org/officeDocument/2006/relationships/slide" Target="/ppt/slides/slide9.xml" Id="R93b69fdf60f14e94" /><Relationship Type="http://schemas.openxmlformats.org/officeDocument/2006/relationships/slide" Target="/ppt/slides/slide10.xml" Id="Rc093a8f384944e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94353ff47049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d6d9f57760442a" /><Relationship Type="http://schemas.openxmlformats.org/officeDocument/2006/relationships/notesMaster" Target="/ppt/notesMasters/notesMaster1.xml" Id="R379809a9e55847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c2f7cdbbdf4d73" /><Relationship Type="http://schemas.openxmlformats.org/officeDocument/2006/relationships/notesMaster" Target="/ppt/notesMasters/notesMaster1.xml" Id="Rb388cdb0831a47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f8fcc63b56427d" /><Relationship Type="http://schemas.openxmlformats.org/officeDocument/2006/relationships/notesMaster" Target="/ppt/notesMasters/notesMaster1.xml" Id="R8122fdfd20c541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0ca98df53c4d29" /><Relationship Type="http://schemas.openxmlformats.org/officeDocument/2006/relationships/notesMaster" Target="/ppt/notesMasters/notesMaster1.xml" Id="R94ae77efb57647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ae1f292beb4ebf" /><Relationship Type="http://schemas.openxmlformats.org/officeDocument/2006/relationships/notesMaster" Target="/ppt/notesMasters/notesMaster1.xml" Id="R281babd2d5494b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4f967ce3b04a0c" /><Relationship Type="http://schemas.openxmlformats.org/officeDocument/2006/relationships/notesMaster" Target="/ppt/notesMasters/notesMaster1.xml" Id="Rf9ca177313aa41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d77a06a27e4519" /><Relationship Type="http://schemas.openxmlformats.org/officeDocument/2006/relationships/notesMaster" Target="/ppt/notesMasters/notesMaster1.xml" Id="Re4fa85bb2f0448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791b3e4f3946df" /><Relationship Type="http://schemas.openxmlformats.org/officeDocument/2006/relationships/notesMaster" Target="/ppt/notesMasters/notesMaster1.xml" Id="Rd8d4e8ed127641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13924f86724da2" /><Relationship Type="http://schemas.openxmlformats.org/officeDocument/2006/relationships/notesMaster" Target="/ppt/notesMasters/notesMaster1.xml" Id="Rcdc4e295f6484d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f6c8e4d25e499a" /><Relationship Type="http://schemas.openxmlformats.org/officeDocument/2006/relationships/notesMaster" Target="/ppt/notesMasters/notesMaster1.xml" Id="R6c9fb44eadfd4c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042360ca704f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e827f9c91346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2ebd6bb5a446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1459cf16e045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db42c183154ce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37bb8542c94b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A78A5F-6027-48CC-8754-731546C7D0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66FCFCB-C019-4A09-B053-6934CDC4A5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6D3E65D-E927-4E2F-8B66-43C125C2FA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31B6D8-C809-40FE-A609-F89B5DF923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55EA0E4-481E-4AD9-8D6D-721216A40D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95F20E4-EAE9-4912-BCFD-8DEB7E5ED5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398693-E973-4ECB-8877-E3CE8C80B0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35CBAD9-22B5-439F-A1E5-CFE2CEB841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D1AE8B-EC8D-4A9D-B216-770DF97ECF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A4D9FE-F57B-4940-8CD0-7B08DA27D8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46dcbdbea749fa" /><Relationship Type="http://schemas.openxmlformats.org/officeDocument/2006/relationships/slideLayout" Target="/ppt/slideLayouts/slideLayout1.xml" Id="R45cac1b0def04276" /><Relationship Type="http://schemas.openxmlformats.org/officeDocument/2006/relationships/slideLayout" Target="/ppt/slideLayouts/slideLayout2.xml" Id="R2045a3c99f974a83" /><Relationship Type="http://schemas.openxmlformats.org/officeDocument/2006/relationships/slideLayout" Target="/ppt/slideLayouts/slideLayout3.xml" Id="R9a0d80b3e9f7440f" /><Relationship Type="http://schemas.openxmlformats.org/officeDocument/2006/relationships/slideLayout" Target="/ppt/slideLayouts/slideLayout4.xml" Id="R607f3d8d740a41d3" /><Relationship Type="http://schemas.openxmlformats.org/officeDocument/2006/relationships/slideLayout" Target="/ppt/slideLayouts/slideLayout5.xml" Id="Re0bc1b1fa4c5421f" /><Relationship Type="http://schemas.openxmlformats.org/officeDocument/2006/relationships/slideLayout" Target="/ppt/slideLayouts/slideLayout6.xml" Id="R8c74e2e012d848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cac1b0def04276"/>
    <p:sldLayoutId xmlns:r="http://schemas.openxmlformats.org/officeDocument/2006/relationships" id="2147483650" r:id="R2045a3c99f974a83"/>
    <p:sldLayoutId xmlns:r="http://schemas.openxmlformats.org/officeDocument/2006/relationships" id="2147483651" r:id="R9a0d80b3e9f7440f"/>
    <p:sldLayoutId xmlns:r="http://schemas.openxmlformats.org/officeDocument/2006/relationships" id="2147483652" r:id="R607f3d8d740a41d3"/>
    <p:sldLayoutId xmlns:r="http://schemas.openxmlformats.org/officeDocument/2006/relationships" id="2147483653" r:id="Re0bc1b1fa4c5421f"/>
    <p:sldLayoutId xmlns:r="http://schemas.openxmlformats.org/officeDocument/2006/relationships" id="2147483654" r:id="R8c74e2e012d848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d222807e4443b0" /><Relationship Type="http://schemas.openxmlformats.org/officeDocument/2006/relationships/notesSlide" Target="/ppt/notesSlides/notesSlide1.xml" Id="R78b290c44f604c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3a09fd8d504e62" /><Relationship Type="http://schemas.openxmlformats.org/officeDocument/2006/relationships/notesSlide" Target="/ppt/notesSlides/notesSlide2.xml" Id="R3962ce6e45a74a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37d05e50a3459b" /><Relationship Type="http://schemas.openxmlformats.org/officeDocument/2006/relationships/notesSlide" Target="/ppt/notesSlides/notesSlide3.xml" Id="Rc4d8b8294faf4c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44a2f64ae24ca6" /><Relationship Type="http://schemas.openxmlformats.org/officeDocument/2006/relationships/notesSlide" Target="/ppt/notesSlides/notesSlide4.xml" Id="R5bc24bf32d1944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485ec23c314b1c" /><Relationship Type="http://schemas.openxmlformats.org/officeDocument/2006/relationships/notesSlide" Target="/ppt/notesSlides/notesSlide5.xml" Id="R8c64976d1dde41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f9102264f444cd" /><Relationship Type="http://schemas.openxmlformats.org/officeDocument/2006/relationships/image" Target="/ppt/media/image.png" Id="Rf341be76d5744024" /><Relationship Type="http://schemas.openxmlformats.org/officeDocument/2006/relationships/notesSlide" Target="/ppt/notesSlides/notesSlide6.xml" Id="R35b49975b3e34a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f3ea3cb7924e6e" /><Relationship Type="http://schemas.openxmlformats.org/officeDocument/2006/relationships/image" Target="/ppt/media/image2.png" Id="R28b570ca7034433a" /><Relationship Type="http://schemas.openxmlformats.org/officeDocument/2006/relationships/image" Target="/ppt/media/image3.png" Id="R0e86609f791d40cd" /><Relationship Type="http://schemas.openxmlformats.org/officeDocument/2006/relationships/notesSlide" Target="/ppt/notesSlides/notesSlide7.xml" Id="R5ff6f8b0471242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e33d3d80744d5d" /><Relationship Type="http://schemas.openxmlformats.org/officeDocument/2006/relationships/image" Target="/ppt/media/image4.png" Id="R29842325f36c408b" /><Relationship Type="http://schemas.openxmlformats.org/officeDocument/2006/relationships/image" Target="/ppt/media/image5.png" Id="R2b6a70d06ddf48da" /><Relationship Type="http://schemas.openxmlformats.org/officeDocument/2006/relationships/notesSlide" Target="/ppt/notesSlides/notesSlide8.xml" Id="Rbe72ac9a6de746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c6a8e491a8413e" /><Relationship Type="http://schemas.openxmlformats.org/officeDocument/2006/relationships/notesSlide" Target="/ppt/notesSlides/notesSlide9.xml" Id="Rf3e88467c3ee48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27c120df534aa0" /><Relationship Type="http://schemas.openxmlformats.org/officeDocument/2006/relationships/notesSlide" Target="/ppt/notesSlides/notesSlide10.xml" Id="Ra951266340714c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F0EE3-692B-4B30-B891-B1A8F6B1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714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E31B5-5A58-40DD-8D7B-974DC4E0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200150"/>
            <a:ext cx="7620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Automated Alumni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Mentorship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F4274-2BBE-4FEF-BF9E-FB3632CD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38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D7F0EE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rgbClr val="D7F0EE"/>
                </a:solidFill>
              </a:defRPr>
            </a:pPr>
            <a:r>
              <a:rPr sz="1950">
                <a:solidFill>
                  <a:srgbClr val="D7F0EE"/>
                </a:solidFill>
              </a:rPr>
              <a:t>DevOps Deployment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8E5BB-6DF9-4FAA-B3E3-B78E69D2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095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B8C9D9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rgbClr val="B8C9D9"/>
                </a:solidFill>
              </a:defRPr>
            </a:pPr>
            <a:r>
              <a:rPr sz="1500">
                <a:solidFill>
                  <a:srgbClr val="B8C9D9"/>
                </a:solidFill>
              </a:rPr>
              <a:t>Spring Boot · Jenkins · Docker · Ansible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6DDA0-A713-4A1A-982E-35462A3B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38750"/>
            <a:ext cx="866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B8C9D9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B8C9D9"/>
                </a:solidFill>
              </a:defRPr>
            </a:pPr>
            <a:r>
              <a:rPr sz="1200">
                <a:solidFill>
                  <a:srgbClr val="B8C9D9"/>
                </a:solidFill>
              </a:rPr>
              <a:t>Repository: github.com/adrian-25/Automated-Alumni-Mentorship-Platform-Deployment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36949-7197-45CB-95F8-748274F2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483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D7F0EE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D7F0EE"/>
                </a:solidFill>
              </a:defRPr>
            </a:pPr>
            <a:r>
              <a:rPr sz="1200">
                <a:solidFill>
                  <a:srgbClr val="D7F0EE"/>
                </a:solidFill>
              </a:rPr>
              <a:t>Final-year CSE project</a:t>
            </a:r>
          </a:p>
        </p:txBody>
      </p:sp>
    </p:spTree>
    <p:extLst>
      <p:ext uri="{BB962C8B-B14F-4D97-AF65-F5344CB8AC3E}">
        <p14:creationId xmlns:p14="http://schemas.microsoft.com/office/powerpoint/2010/main" val="6888057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F45B32-4F14-478B-87BF-8CC8776E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274FF-05A9-4454-B37B-8D28540A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Problem and stakeholders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56375-D1AA-46DB-A808-FA356EF1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A focused platform for structured alumni mentorship requests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C2F45-3589-4248-B03E-6F24726D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8199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100">
                <a:solidFill>
                  <a:srgbClr val="102A43"/>
                </a:solidFill>
              </a:defRPr>
            </a:pPr>
            <a:r>
              <a:rPr sz="2100">
                <a:solidFill>
                  <a:srgbClr val="102A43"/>
                </a:solidFill>
              </a:rPr>
              <a:t>Students need a clear way to request guidance. Alumni need a simple workflow to review and respond. Administrators need visibility of requests and status.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DF901-C87F-469D-B2D8-FD97FF50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00200"/>
            <a:ext cx="2857500" cy="33909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AE95B-B1A3-42FE-A601-BD051D35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812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Platform 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95FE9-87CD-41F6-BA65-6FCE6EB4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47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F7A8C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F7A8C"/>
                </a:solidFill>
              </a:defRPr>
            </a:pPr>
            <a:r>
              <a:rPr sz="1725" b="1">
                <a:solidFill>
                  <a:srgbClr val="1F7A8C"/>
                </a:solidFill>
              </a:rPr>
              <a:t>Students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80CC9-BD2E-4964-AC06-E56F1FEF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03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Submit mentorship requests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F7857-19B3-42EC-B984-7420D71F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671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F7A8C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F7A8C"/>
                </a:solidFill>
              </a:defRPr>
            </a:pPr>
            <a:r>
              <a:rPr sz="1725" b="1">
                <a:solidFill>
                  <a:srgbClr val="1F7A8C"/>
                </a:solidFill>
              </a:rPr>
              <a:t>Alumni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D348ED-7A69-45D8-9578-93DAE36D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195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Review and update requests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38562-2A32-4AEE-99E1-77AE43EE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86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F7A8C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F7A8C"/>
                </a:solidFill>
              </a:defRPr>
            </a:pPr>
            <a:r>
              <a:rPr sz="1725" b="1">
                <a:solidFill>
                  <a:srgbClr val="1F7A8C"/>
                </a:solidFill>
              </a:rPr>
              <a:t>Administrators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F31FA-335B-46F9-9FDF-E3A05B0F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03872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See platform activity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5E9323-2F75-4BEB-9544-26FA8A97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52606D"/>
                </a:solidFill>
              </a:defRPr>
            </a:pPr>
            <a:r>
              <a:rPr sz="900">
                <a:solidFill>
                  <a:srgbClr val="52606D"/>
                </a:solidFill>
              </a:rPr>
              <a:t>Automated Alumni Mentorship Platform Deployment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6205A7-632B-4AA5-BDDE-98C6D00B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F7A8C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F7A8C"/>
                </a:solidFill>
              </a:defRPr>
            </a:pPr>
            <a:r>
              <a:rPr sz="900" b="1">
                <a:solidFill>
                  <a:srgbClr val="1F7A8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627090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6BE49C-D273-4230-AD79-53C3FE2B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10FEC-D596-4452-9223-C21C7CAF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MVP scope and request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ACE96-ABDE-4058-9A1A-2D3589EC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The project deliberately limits scope to a demonstrable mentorship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F7BDB-E1A9-4860-8FD3-A785D8D8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7907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E6D78-9925-43CB-BB60-0FDFB223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F7A8C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F7A8C"/>
                </a:solidFill>
              </a:defRPr>
            </a:pPr>
            <a:r>
              <a:rPr sz="1275" b="1">
                <a:solidFill>
                  <a:srgbClr val="1F7A8C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EFA2E-AA15-417D-8910-08A0BA58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Student and alumni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6E7AD-2756-4228-96BA-6F946325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38375"/>
            <a:ext cx="17907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C9CEC-B455-43B3-A54A-C02F6CB6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F7A8C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F7A8C"/>
                </a:solidFill>
              </a:defRPr>
            </a:pPr>
            <a:r>
              <a:rPr sz="1275" b="1">
                <a:solidFill>
                  <a:srgbClr val="1F7A8C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0F095-1E60-4553-9B27-898149C7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9560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Search and browse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1A38E-AB6F-474C-BDD3-3E4CAD41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38375"/>
            <a:ext cx="17907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961130-CCE9-4EB1-9F05-2F0BEE1B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5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F7A8C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F7A8C"/>
                </a:solidFill>
              </a:defRPr>
            </a:pPr>
            <a:r>
              <a:rPr sz="1275" b="1">
                <a:solidFill>
                  <a:srgbClr val="1F7A8C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6271FA-9D98-482A-8C9B-B2455E00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9560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Mentorship request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9E11F-80E3-4ECB-AC64-39F72E78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38375"/>
            <a:ext cx="17907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7F0EE"/>
          </a:solidFill>
          <a:ln xmlns:a="http://schemas.openxmlformats.org/drawingml/2006/main" w="0">
            <a:solidFill>
              <a:srgbClr val="D7F0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28158-7320-4E7A-9336-8E7ED5F0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5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F7A8C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F7A8C"/>
                </a:solidFill>
              </a:defRPr>
            </a:pPr>
            <a:r>
              <a:rPr sz="1275" b="1">
                <a:solidFill>
                  <a:srgbClr val="1F7A8C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ED1677-0CA5-4B66-B4AA-88006F73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9560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Role-aware status change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FC6C9-8407-41A5-8141-07A75D58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38375"/>
            <a:ext cx="17907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AC7175-E02E-4520-B158-DFBC01F5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5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F7A8C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F7A8C"/>
                </a:solidFill>
              </a:defRPr>
            </a:pPr>
            <a:r>
              <a:rPr sz="1275" b="1">
                <a:solidFill>
                  <a:srgbClr val="1F7A8C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201FF2-9576-47E5-94DD-DFCAB558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9560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Summary dashboard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7C0C73-4733-4083-999D-B49C52FD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0774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3D4"/>
          </a:solidFill>
          <a:ln xmlns:a="http://schemas.openxmlformats.org/drawingml/2006/main" w="0">
            <a:solidFill>
              <a:srgbClr val="FFF3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B23DAD-3783-437C-A4FF-91DA807B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97700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97700"/>
                </a:solidFill>
              </a:defRPr>
            </a:pPr>
            <a:r>
              <a:rPr sz="1050" b="1">
                <a:solidFill>
                  <a:srgbClr val="C97700"/>
                </a:solidFill>
              </a:rPr>
              <a:t>Excluded from the MVP: SSO, production persistence, scheduling, notifications, and observability.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8CF4DA-35AA-4983-9BD8-09C4052C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52606D"/>
                </a:solidFill>
              </a:defRPr>
            </a:pPr>
            <a:r>
              <a:rPr sz="900">
                <a:solidFill>
                  <a:srgbClr val="52606D"/>
                </a:solidFill>
              </a:rPr>
              <a:t>Automated Alumni Mentorship Platform Deployment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F60F6B-B242-43EC-9680-A1C25DF9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F7A8C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F7A8C"/>
                </a:solidFill>
              </a:defRPr>
            </a:pPr>
            <a:r>
              <a:rPr sz="900" b="1">
                <a:solidFill>
                  <a:srgbClr val="1F7A8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408887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9B5F84-832D-4C7C-900E-132778D9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18351-2A85-474C-9DE6-BE5F479A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Architecture and technology choices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ED30F-B803-4450-8B53-5423EF60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A WAR-capable Spring Boot application supports both local testing and Tomcat deployment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1C274-D50E-42CE-BE90-872F1AF0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22383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7F0EE"/>
          </a:solidFill>
          <a:ln xmlns:a="http://schemas.openxmlformats.org/drawingml/2006/main" w="0">
            <a:solidFill>
              <a:srgbClr val="D7F0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D9FA3-741F-4C46-99EA-FF5092E1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Web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58E16-72F4-4349-B85A-724E971C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38325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75">
                <a:solidFill>
                  <a:srgbClr val="1F2933"/>
                </a:solidFill>
              </a:defRPr>
            </a:pPr>
            <a:r>
              <a:rPr sz="1575">
                <a:solidFill>
                  <a:srgbClr val="1F2933"/>
                </a:solidFill>
              </a:rPr>
              <a:t>Thymeleaf MVC pages and 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025E7-010F-4292-9E90-943344A8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990725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897FC-7081-414B-BA6C-725481DF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22383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B4252-4A3F-4AD3-B52C-69CAFA8D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3845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Application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0EACDD-C76C-4D90-84C1-4CD26156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28925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75">
                <a:solidFill>
                  <a:srgbClr val="1F2933"/>
                </a:solidFill>
              </a:defRPr>
            </a:pPr>
            <a:r>
              <a:rPr sz="1575">
                <a:solidFill>
                  <a:srgbClr val="1F2933"/>
                </a:solidFill>
              </a:rPr>
              <a:t>Java 17, Spring Boot 3, request transition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36A40-28A3-4F8D-99D1-0AD2CC1E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81325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C2444-9BCB-4044-8F31-22EF1BA8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22383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7F0EE"/>
          </a:solidFill>
          <a:ln xmlns:a="http://schemas.openxmlformats.org/drawingml/2006/main" w="0">
            <a:solidFill>
              <a:srgbClr val="D7F0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F0AF4-EB6C-469F-BD6B-1273DC13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42137-A9D3-4A0D-9132-ECED8C7B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19525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75">
                <a:solidFill>
                  <a:srgbClr val="1F2933"/>
                </a:solidFill>
              </a:defRPr>
            </a:pPr>
            <a:r>
              <a:rPr sz="1575">
                <a:solidFill>
                  <a:srgbClr val="1F2933"/>
                </a:solidFill>
              </a:rPr>
              <a:t>Spring Data JPA with H2 for the MVP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6B70D0-0DCA-4C8A-867C-DC4DD397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71925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4FDC85-AE82-4CD6-841B-D66425D9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22383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4DD1ED-EC29-40FA-AD9D-A1D1B761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965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Delivery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4F447-A6F0-41CB-909D-492EFA30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10125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75">
                <a:solidFill>
                  <a:srgbClr val="1F2933"/>
                </a:solidFill>
              </a:defRPr>
            </a:pPr>
            <a:r>
              <a:rPr sz="1575">
                <a:solidFill>
                  <a:srgbClr val="1F2933"/>
                </a:solidFill>
              </a:rPr>
              <a:t>Maven, Jenkins, Docker, Tomcat, Ansible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3ADF9-609C-4730-84B9-9BFEE0AA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62525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5F375B-9FEC-4024-BC8D-86EBB772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52606D"/>
                </a:solidFill>
              </a:defRPr>
            </a:pPr>
            <a:r>
              <a:rPr sz="900">
                <a:solidFill>
                  <a:srgbClr val="52606D"/>
                </a:solidFill>
              </a:rPr>
              <a:t>Automated Alumni Mentorship Platform Deployment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7927E8-2E6E-40BD-BFF9-0CBC4998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F7A8C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F7A8C"/>
                </a:solidFill>
              </a:defRPr>
            </a:pPr>
            <a:r>
              <a:rPr sz="900" b="1">
                <a:solidFill>
                  <a:srgbClr val="1F7A8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048756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A67D6A-0D7E-4146-9B37-14D9D423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0F5EB-A6C2-4D28-A205-4918D7C1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Git collaboration and traceability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A67CD-31B2-495F-9FD7-B9EB128C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The repository keeps code, configuration, task notes, and evidence together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879CE-2EE9-435F-A72D-0957ADD8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6547A-1EAC-4C8C-B085-EEB96D1F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90700"/>
            <a:ext cx="901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rgbClr val="1F2933"/>
                </a:solidFill>
              </a:defRPr>
            </a:pPr>
            <a:r>
              <a:rPr sz="1500">
                <a:solidFill>
                  <a:srgbClr val="1F2933"/>
                </a:solidFill>
              </a:rPr>
              <a:t>Feature pull requests #1 and #2 were reviewed and merged.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CFF2B-CDC3-4D57-B8EF-A06A823D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81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85E3B-08E9-4A04-ACC6-46455DBD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86025"/>
            <a:ext cx="901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rgbClr val="1F2933"/>
                </a:solidFill>
              </a:defRPr>
            </a:pPr>
            <a:r>
              <a:rPr sz="1500">
                <a:solidFill>
                  <a:srgbClr val="1F2933"/>
                </a:solidFill>
              </a:rPr>
              <a:t>The repository records a resolved merge conflict and a v1.0.0 baseline tag.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84C40-69C0-466B-AFEE-828FE3DF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17058-EAAA-4512-9E79-35A948A7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81350"/>
            <a:ext cx="901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rgbClr val="1F2933"/>
                </a:solidFill>
              </a:defRPr>
            </a:pPr>
            <a:r>
              <a:rPr sz="1500">
                <a:solidFill>
                  <a:srgbClr val="1F2933"/>
                </a:solidFill>
              </a:rPr>
              <a:t>GitHub issue templates produced issue #4 for a defect and issue #5 for a feature request.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8E5A9-3349-44E2-9B37-48A0967D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D60D8-B124-4B0D-8419-AA43734B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76675"/>
            <a:ext cx="901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rgbClr val="1F2933"/>
                </a:solidFill>
              </a:defRPr>
            </a:pPr>
            <a:r>
              <a:rPr sz="1500">
                <a:solidFill>
                  <a:srgbClr val="1F2933"/>
                </a:solidFill>
              </a:rPr>
              <a:t>Each task directory documents reproducible commands and captured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4D7BF-CE51-438F-A18A-BCBF140A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27813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529AD-6069-44B6-8E95-66A0D03C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244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Traceability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E2D3E0-183A-46A0-A133-33CB8A75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9587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F7A8C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1F7A8C"/>
                </a:solidFill>
              </a:defRPr>
            </a:pPr>
            <a:r>
              <a:rPr sz="1200">
                <a:solidFill>
                  <a:srgbClr val="1F7A8C"/>
                </a:solidFill>
              </a:rPr>
              <a:t>Commit → build →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6621BE-4744-4922-A26C-84D1E3E5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52606D"/>
                </a:solidFill>
              </a:defRPr>
            </a:pPr>
            <a:r>
              <a:rPr sz="900">
                <a:solidFill>
                  <a:srgbClr val="52606D"/>
                </a:solidFill>
              </a:rPr>
              <a:t>Automated Alumni Mentorship Platform Deployment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746336-937C-4B15-8117-51DF5E6A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F7A8C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F7A8C"/>
                </a:solidFill>
              </a:defRPr>
            </a:pPr>
            <a:r>
              <a:rPr sz="900" b="1">
                <a:solidFill>
                  <a:srgbClr val="1F7A8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911147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4A49F-838E-46AE-9A94-9CA30518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3EBAE-1892-4CF4-9742-B9BEBAB3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Application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F47E8-12B9-4D27-891F-5A67ABE1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The running Tomcat container served the mentorship dashboard on localhost:8081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84FB9-8CFC-4A81-B895-FC2AB068CC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41be76d5744024"/>
          <a:stretch xmlns:a="http://schemas.openxmlformats.org/drawingml/2006/main"/>
        </p:blipFill>
        <p:spPr>
          <a:xfrm xmlns:a="http://schemas.openxmlformats.org/drawingml/2006/main">
            <a:off x="685800" y="1662113"/>
            <a:ext cx="6858000" cy="3857625"/>
          </a:xfrm>
          <a:prstGeom xmlns:a="http://schemas.openxmlformats.org/drawingml/2006/main" prst="roundRect">
            <a:avLst>
              <a:gd name="adj" fmla="val 184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13444-8142-43A8-BEAD-F7D74CE5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52600"/>
            <a:ext cx="3028950" cy="32575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0">
            <a:solidFill>
              <a:srgbClr val="EAF4F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9FCE5-6EF5-4AEC-8A6A-3BC791CE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95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Verified user functions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8746D-566B-4405-934B-34103774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00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5B53E-711E-4A43-ACCB-4AC5DFED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051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Record management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BF70AE-6B3F-48E4-8CFE-BC50A532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95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DCD3D-0D83-43AC-9FF6-B0C7E83F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04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Mentor discovery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63F74B-A473-4781-9799-3A86C2FD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90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0EBE0-2267-41E1-B803-36183703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Request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EB14A-A72F-4B10-AC7A-CB820751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8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C6261A-621E-438F-A547-37EE58D1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910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Dashboard summary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DEB54A-F1BB-41F8-B0CC-CEA447AA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52606D"/>
                </a:solidFill>
              </a:defRPr>
            </a:pPr>
            <a:r>
              <a:rPr sz="900">
                <a:solidFill>
                  <a:srgbClr val="52606D"/>
                </a:solidFill>
              </a:rPr>
              <a:t>Automated Alumni Mentorship Platform Deployment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422A4-A334-40FD-90E8-10D05A38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F7A8C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F7A8C"/>
                </a:solidFill>
              </a:defRPr>
            </a:pPr>
            <a:r>
              <a:rPr sz="900" b="1">
                <a:solidFill>
                  <a:srgbClr val="1F7A8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400806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5DAD4-0CDE-4207-8A35-55F8640F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5A4F5-A061-4605-A794-ED137548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Continuous testing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E6E1E-15D2-4A0A-A332-4FE0EFD5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Maven unit checks and Selenium browser journeys protect the workflow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BC4A5-D368-4745-8B7B-116B2D8A4B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570ca7034433a"/>
          <a:stretch xmlns:a="http://schemas.openxmlformats.org/drawingml/2006/main"/>
        </p:blipFill>
        <p:spPr>
          <a:xfrm xmlns:a="http://schemas.openxmlformats.org/drawingml/2006/main">
            <a:off x="2425392" y="1733550"/>
            <a:ext cx="1473816" cy="2952750"/>
          </a:xfrm>
          <a:prstGeom xmlns:a="http://schemas.openxmlformats.org/drawingml/2006/main" prst="roundRect">
            <a:avLst>
              <a:gd name="adj" fmla="val 2581"/>
            </a:avLst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3357E-62C3-45C0-B716-03ACC6DCCF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6609f791d40cd"/>
          <a:stretch xmlns:a="http://schemas.openxmlformats.org/drawingml/2006/main"/>
        </p:blipFill>
        <p:spPr>
          <a:xfrm xmlns:a="http://schemas.openxmlformats.org/drawingml/2006/main">
            <a:off x="6637020" y="1733550"/>
            <a:ext cx="4251960" cy="2952750"/>
          </a:xfrm>
          <a:prstGeom xmlns:a="http://schemas.openxmlformats.org/drawingml/2006/main" prst="roundRect">
            <a:avLst>
              <a:gd name="adj" fmla="val 258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98092-C121-4F64-B17D-E753E639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Defect build: a controlled test failure produced visible Jenkins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18B66-FB59-4B1D-888E-C33A9C0D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149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Fixed build: the corrected code produced successful Jenkins test results.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32456-F7AA-4780-BEFA-BB7A576C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52606D"/>
                </a:solidFill>
              </a:defRPr>
            </a:pPr>
            <a:r>
              <a:rPr sz="900">
                <a:solidFill>
                  <a:srgbClr val="52606D"/>
                </a:solidFill>
              </a:rPr>
              <a:t>Automated Alumni Mentorship Platform Deployment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DBCC7-2627-4CE2-B14E-6998100B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F7A8C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F7A8C"/>
                </a:solidFill>
              </a:defRPr>
            </a:pPr>
            <a:r>
              <a:rPr sz="900" b="1">
                <a:solidFill>
                  <a:srgbClr val="1F7A8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397212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F2C756-EA22-4955-A184-0575D8EA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B3306-A82F-4164-9C87-15A21E49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CI/CD pipeline and container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FA587-EE47-404B-8CA0-EFE762AD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The pipeline tests, builds a versioned image, deploys a fresh container, then checks health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E0666-C719-4A82-9E64-0C34F877A5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42325f36c408b"/>
          <a:stretch xmlns:a="http://schemas.openxmlformats.org/drawingml/2006/main"/>
        </p:blipFill>
        <p:spPr>
          <a:xfrm xmlns:a="http://schemas.openxmlformats.org/drawingml/2006/main">
            <a:off x="685800" y="1593168"/>
            <a:ext cx="4810125" cy="2833464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D5040-7CB5-492E-BFAD-1AED7B7380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a70d06ddf48da"/>
          <a:stretch xmlns:a="http://schemas.openxmlformats.org/drawingml/2006/main"/>
        </p:blipFill>
        <p:spPr>
          <a:xfrm xmlns:a="http://schemas.openxmlformats.org/drawingml/2006/main">
            <a:off x="6191250" y="1616869"/>
            <a:ext cx="4953000" cy="2786063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9E55D-145D-4711-8DC2-DB4C8BD3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480E7-EC7C-4FD9-96B4-2C2B90C7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57750"/>
            <a:ext cx="920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Jenkins runs the Maven quality gate.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6E322-3D14-419B-9DDF-F92938C3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53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DF523-5169-4E89-9C81-C0B8E2EF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57800"/>
            <a:ext cx="920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Docker builds the Tomcat image from the WAR.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0C601-2B49-41A4-8A40-62EC78FA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53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F5B561-B711-4A2A-A8C3-1D5F8B18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57850"/>
            <a:ext cx="920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The deployment waits for the health endpoint.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2A6D9-D47F-469C-8350-136DFFC5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38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3D4"/>
          </a:solidFill>
          <a:ln xmlns:a="http://schemas.openxmlformats.org/drawingml/2006/main" w="0">
            <a:solidFill>
              <a:srgbClr val="FFF3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2D7F9-62C2-4AC3-85F0-A804FC98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67425"/>
            <a:ext cx="1011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97700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97700"/>
                </a:solidFill>
              </a:defRPr>
            </a:pPr>
            <a:r>
              <a:rPr sz="1050" b="1">
                <a:solidFill>
                  <a:srgbClr val="C97700"/>
                </a:solidFill>
              </a:rPr>
              <a:t>Docker Hub publication is in progress. The live registry run belongs here once it completes.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F7EFE7-73C4-4930-B7D1-0D6D7154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52606D"/>
                </a:solidFill>
              </a:defRPr>
            </a:pPr>
            <a:r>
              <a:rPr sz="900">
                <a:solidFill>
                  <a:srgbClr val="52606D"/>
                </a:solidFill>
              </a:rPr>
              <a:t>Automated Alumni Mentorship Platform Deployment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A96115-7CE7-4060-B256-89393D98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F7A8C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F7A8C"/>
                </a:solidFill>
              </a:defRPr>
            </a:pPr>
            <a:r>
              <a:rPr sz="900" b="1">
                <a:solidFill>
                  <a:srgbClr val="1F7A8C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9016639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F81D23-C997-40F8-B643-7358E2F2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70001-E9BF-420E-AEAB-64E17351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Ansible provisioning and reliability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DD616-4F6B-4C04-9DCA-1BD53143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The playbook configures a clean Linux target and verifies the container health endpoint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C2AF8-91F1-4D33-8F81-D8A0A387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7A8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7A8C"/>
                </a:solidFill>
              </a:defRPr>
            </a:pPr>
            <a:r>
              <a:rPr sz="1350" b="1">
                <a:solidFill>
                  <a:srgbClr val="1F7A8C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4F01D-5A3C-491D-BA30-7AD29502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838325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A66BA-EB31-4076-9DFC-A63E420B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3830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650">
                <a:solidFill>
                  <a:srgbClr val="1F2933"/>
                </a:solidFill>
              </a:defRPr>
            </a:pPr>
            <a:r>
              <a:rPr sz="1650">
                <a:solidFill>
                  <a:srgbClr val="1F2933"/>
                </a:solidFill>
              </a:rPr>
              <a:t>Install Docker prerequisites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60FC1-5B82-4347-BA40-F5F62A71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7A8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7A8C"/>
                </a:solidFill>
              </a:defRPr>
            </a:pPr>
            <a:r>
              <a:rPr sz="1350" b="1">
                <a:solidFill>
                  <a:srgbClr val="1F7A8C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2BCEC-4A81-4B3B-8C76-A2268D9A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695575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3BDF5-935B-4E87-9BAB-A0A6CD38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9555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650">
                <a:solidFill>
                  <a:srgbClr val="1F2933"/>
                </a:solidFill>
              </a:defRPr>
            </a:pPr>
            <a:r>
              <a:rPr sz="1650">
                <a:solidFill>
                  <a:srgbClr val="1F2933"/>
                </a:solidFill>
              </a:rPr>
              <a:t>Create the service account and app directory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44779-6EB2-43AD-AF5E-56C64B73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7A8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7A8C"/>
                </a:solidFill>
              </a:defRPr>
            </a:pPr>
            <a:r>
              <a:rPr sz="1350" b="1">
                <a:solidFill>
                  <a:srgbClr val="1F7A8C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2417B9-E4F5-40FE-BA3B-839988F9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552825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71CFF-9603-46F1-BB7B-69900060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5280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650">
                <a:solidFill>
                  <a:srgbClr val="1F2933"/>
                </a:solidFill>
              </a:defRPr>
            </a:pPr>
            <a:r>
              <a:rPr sz="1650">
                <a:solidFill>
                  <a:srgbClr val="1F2933"/>
                </a:solidFill>
              </a:rPr>
              <a:t>Pull an immutable image and start the container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272363-D398-4655-810D-A6714C98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7A8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7A8C"/>
                </a:solidFill>
              </a:defRPr>
            </a:pPr>
            <a:r>
              <a:rPr sz="1350" b="1">
                <a:solidFill>
                  <a:srgbClr val="1F7A8C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82BC6D-3DA2-43DF-BD5F-21ED2F94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410075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9B0C55-BEF1-4D06-8C57-06A150E7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1005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650">
                <a:solidFill>
                  <a:srgbClr val="1F2933"/>
                </a:solidFill>
              </a:defRPr>
            </a:pPr>
            <a:r>
              <a:rPr sz="1650">
                <a:solidFill>
                  <a:srgbClr val="1F2933"/>
                </a:solidFill>
              </a:rPr>
              <a:t>Check HTTP health, repeat for idempotency, then validate rollback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A8C13-9C80-4107-9B43-65F67AE7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3060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3D4"/>
          </a:solidFill>
          <a:ln xmlns:a="http://schemas.openxmlformats.org/drawingml/2006/main" w="0">
            <a:solidFill>
              <a:srgbClr val="FFF3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CC701-A65E-4926-BFE9-6A3DCCBF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38775"/>
            <a:ext cx="1003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97700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97700"/>
                </a:solidFill>
              </a:defRPr>
            </a:pPr>
            <a:r>
              <a:rPr sz="1050" b="1">
                <a:solidFill>
                  <a:srgbClr val="C97700"/>
                </a:solidFill>
              </a:rPr>
              <a:t>Pending live evidence: first apply, changed=0 on the second apply, health response, and rollback on the VM.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62EBA0-7E3B-4D07-928F-8D1A969C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52606D"/>
                </a:solidFill>
              </a:defRPr>
            </a:pPr>
            <a:r>
              <a:rPr sz="900">
                <a:solidFill>
                  <a:srgbClr val="52606D"/>
                </a:solidFill>
              </a:rPr>
              <a:t>Automated Alumni Mentorship Platform Deployment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E77865-55F6-4957-9996-21C7AE1F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F7A8C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F7A8C"/>
                </a:solidFill>
              </a:defRPr>
            </a:pPr>
            <a:r>
              <a:rPr sz="900" b="1">
                <a:solidFill>
                  <a:srgbClr val="1F7A8C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2298976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BFF4DD-73E2-4FE2-BECF-10AF76A1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D0F26-99F0-4723-A113-40B5F25C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Results, limitations, and final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08BDB-4DD9-4659-A708-3AFCB315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Verified local results are separate from the VM and registry evidence still being captured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DE899-9165-4C85-85E3-FD228779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7F0EE"/>
          </a:solidFill>
          <a:ln xmlns:a="http://schemas.openxmlformats.org/drawingml/2006/main" w="0">
            <a:solidFill>
              <a:srgbClr val="D7F0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28A5E-B39F-4CA9-AE23-E90269E2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526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Verified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065CB-4FED-4DA3-92EE-C1C73F1B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67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3D3F8-A0B0-4C25-B4C5-733EE174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571750"/>
            <a:ext cx="3629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Native Maven verification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0EF12-F173-49C4-9A3C-A8AEAEB2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24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6A8E4-C1D1-4374-92C2-F7F7648C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028950"/>
            <a:ext cx="3629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Jenkins CI and Selenium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C3D85-F3AC-4D25-B499-6F99CE9B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81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FD9E8-DE1F-4EFB-A25F-FE831139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486150"/>
            <a:ext cx="3629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Docker container and browser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DACEA-87E3-4A03-8235-5E207614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38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D2DF6-47AD-4061-8C83-2C0768F4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943350"/>
            <a:ext cx="3629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Ansible syntax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E00B9E-4450-4494-9939-3F338C89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19250"/>
            <a:ext cx="4762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3D4"/>
          </a:solidFill>
          <a:ln xmlns:a="http://schemas.openxmlformats.org/drawingml/2006/main" w="0">
            <a:solidFill>
              <a:srgbClr val="FFF3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3C41C-1122-41B5-8A0E-ED9EC17C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9526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Final live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CF996-EF21-4420-8D5A-758D3FF3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67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651F62-C063-4042-BE37-3FF70C0C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367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Published Docker Hub tag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397DDE-A6D4-46DC-950B-142BEBE4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24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1BCD94-5B12-4895-96CD-278F1C7A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28950"/>
            <a:ext cx="367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Jenkins registry deployment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CEF5D3-A58F-4C13-A0C0-638E9108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81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5BA02E-7316-4C8D-B9F4-75A11FC2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367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VM apply and second idempotency 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4A0EAE-D3BE-4212-B327-01FBB7B1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38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1A5369-42CE-4FF6-BDF5-CD565DA7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43350"/>
            <a:ext cx="367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F2933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Rollback and final recorded demo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C5179E-8F62-4414-8BF1-9C156AB3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Next: complete the Docker Hub push, then run Task 13 and Task 14 against the Ubuntu VM using the immutable image tag.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18F6E2-98E4-4BC5-A821-3A5D1AC2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52606D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52606D"/>
                </a:solidFill>
              </a:defRPr>
            </a:pPr>
            <a:r>
              <a:rPr sz="900">
                <a:solidFill>
                  <a:srgbClr val="52606D"/>
                </a:solidFill>
              </a:rPr>
              <a:t>Automated Alumni Mentorship Platform Deployment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FC9E97-BE5E-4E31-8E54-BE878AAB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F7A8C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F7A8C"/>
                </a:solidFill>
              </a:defRPr>
            </a:pPr>
            <a:r>
              <a:rPr sz="900" b="1">
                <a:solidFill>
                  <a:srgbClr val="1F7A8C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716536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2026-10-10T13:54:02.6590000Z</dcterms:created>
  <dcterms:modified xsi:type="dcterms:W3CDTF">2026-10-10T13:54:02.6590000Z</dcterms:modified>
</coreProperties>
</file>